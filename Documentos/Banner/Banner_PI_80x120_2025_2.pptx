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32404050" cx="216027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206">
          <p15:clr>
            <a:srgbClr val="A4A3A4"/>
          </p15:clr>
        </p15:guide>
        <p15:guide id="2" pos="6804">
          <p15:clr>
            <a:srgbClr val="A4A3A4"/>
          </p15:clr>
        </p15:guide>
        <p15:guide id="3" orient="horz" pos="4649">
          <p15:clr>
            <a:srgbClr val="747775"/>
          </p15:clr>
        </p15:guide>
      </p15:sldGuideLst>
    </p:ext>
    <p:ext uri="GoogleSlidesCustomDataVersion2">
      <go:slidesCustomData xmlns:go="http://customooxmlschemas.google.com/" r:id="rId7" roundtripDataSignature="AMtx7mjxFRa+XkFlil25S77fMUGSp3bu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206" orient="horz"/>
        <p:guide pos="6804"/>
        <p:guide pos="4649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22860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620838" y="10066338"/>
            <a:ext cx="18361025" cy="6945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240088" y="18362613"/>
            <a:ext cx="15122525" cy="82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10795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7380288" y="29508450"/>
            <a:ext cx="684212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154813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1079500" y="1296988"/>
            <a:ext cx="19443700" cy="540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1079500" y="7561263"/>
            <a:ext cx="19443700" cy="21385212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10795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7380288" y="29508450"/>
            <a:ext cx="684212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154813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1706563" y="20823238"/>
            <a:ext cx="18362612" cy="643572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1706563" y="13733463"/>
            <a:ext cx="18362612" cy="7089775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10795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7380288" y="29508450"/>
            <a:ext cx="684212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154813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1079500" y="1296988"/>
            <a:ext cx="19443700" cy="540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1079500" y="7561263"/>
            <a:ext cx="9645650" cy="21385212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10877550" y="7561263"/>
            <a:ext cx="9645650" cy="21385212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10795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7380288" y="29508450"/>
            <a:ext cx="684212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154813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1079500" y="1296988"/>
            <a:ext cx="19443700" cy="540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1079500" y="7253288"/>
            <a:ext cx="9545638" cy="30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1079500" y="10275888"/>
            <a:ext cx="9545638" cy="18670587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10974388" y="7253288"/>
            <a:ext cx="9548812" cy="30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10974388" y="10275888"/>
            <a:ext cx="9548812" cy="18670587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10795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7380288" y="29508450"/>
            <a:ext cx="684212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154813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1079500" y="1296988"/>
            <a:ext cx="19443700" cy="540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10795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7380288" y="29508450"/>
            <a:ext cx="684212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154813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10795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7380288" y="29508450"/>
            <a:ext cx="684212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154813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1079500" y="1290638"/>
            <a:ext cx="7107238" cy="5489575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445500" y="1290638"/>
            <a:ext cx="12077700" cy="27655837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1079500" y="6780213"/>
            <a:ext cx="7107238" cy="22166262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10795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7380288" y="29508450"/>
            <a:ext cx="684212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154813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233863" y="22682200"/>
            <a:ext cx="12961937" cy="2678113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4233863" y="2895600"/>
            <a:ext cx="12961937" cy="19442113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233863" y="25360313"/>
            <a:ext cx="12961937" cy="3803650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10795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7380288" y="29508450"/>
            <a:ext cx="684212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154813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1079500" y="1296988"/>
            <a:ext cx="19443700" cy="540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108744" y="8532019"/>
            <a:ext cx="21385212" cy="19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10795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7380288" y="29508450"/>
            <a:ext cx="684212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154813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4267994" y="12691269"/>
            <a:ext cx="27649487" cy="4860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5530056" y="7906544"/>
            <a:ext cx="27649487" cy="144303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10795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7380288" y="29508450"/>
            <a:ext cx="684212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54813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079500" y="1296988"/>
            <a:ext cx="19443700" cy="540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1079500" y="7561263"/>
            <a:ext cx="19443700" cy="21385212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-914400" lvl="0" marL="457200" marR="0" rtl="0" algn="l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Char char="•"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831850" lvl="1" marL="914400" marR="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–"/>
              <a:defRPr b="0" i="0" sz="9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742950" lvl="2" marL="1371600" marR="0" rtl="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•"/>
              <a:defRPr b="0" i="0" sz="8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660400" lvl="3" marL="1828800" marR="0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–"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660400" lvl="4" marL="2286000" marR="0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»"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660400" lvl="5" marL="2743200" marR="0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»"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660400" lvl="6" marL="3200400" marR="0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»"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660400" lvl="7" marL="3657600" marR="0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»"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660400" lvl="8" marL="4114800" marR="0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»"/>
              <a:defRPr b="0" i="0" sz="6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10795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7380288" y="29508450"/>
            <a:ext cx="6842125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5481300" y="29508450"/>
            <a:ext cx="50419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  <a:defRPr b="0" i="0" sz="4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2.png"/><Relationship Id="rId13" Type="http://schemas.openxmlformats.org/officeDocument/2006/relationships/image" Target="../media/image11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Relationship Id="rId4" Type="http://schemas.openxmlformats.org/officeDocument/2006/relationships/image" Target="../media/image6.png"/><Relationship Id="rId9" Type="http://schemas.openxmlformats.org/officeDocument/2006/relationships/image" Target="../media/image4.png"/><Relationship Id="rId15" Type="http://schemas.openxmlformats.org/officeDocument/2006/relationships/image" Target="../media/image12.png"/><Relationship Id="rId14" Type="http://schemas.openxmlformats.org/officeDocument/2006/relationships/image" Target="../media/image9.png"/><Relationship Id="rId16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994" y="-182502"/>
            <a:ext cx="21583589" cy="323880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-27553" y="2016449"/>
            <a:ext cx="216027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Bruno Rodrigues; Enzo Henrique; Harry Zhu; Murilo Ângelo; Vitor Kolle.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517948" y="3744641"/>
            <a:ext cx="9964800" cy="4678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Sobre a equipe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54000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membro da equipe teve um papel importante na construção do projeto:</a:t>
            </a:r>
            <a:b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Bruno foi responsável pela criação da base do banco de dados (DER, MER e Mini Mundo).</a:t>
            </a:r>
            <a:b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Enzo cuidou da prototipação e do projeto navegável no Figma.</a:t>
            </a:r>
            <a:b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Harry e Murilo dividiram o desenvolvimento do front-end, Harry criou os dashboards e a página principal, enquanto Murilo desenvolveu as páginas de cadastro, login e o menu.</a:t>
            </a:r>
            <a:b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Vitor ficou encarregado do back-end, configurando rotas, autenticação e requests.</a:t>
            </a:r>
            <a:endParaRPr/>
          </a:p>
          <a:p>
            <a:pPr indent="540000" lvl="0" marL="0" marR="0" rtl="0" algn="just">
              <a:lnSpc>
                <a:spcPct val="15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Além disso, todos participaram das documentações, testes e demais etapas, o que fortaleceu a comunicação e o trabalho em equipe ao longo do projeto.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0" y="-514350"/>
            <a:ext cx="1841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75"/>
              <a:buFont typeface="Arial"/>
              <a:buNone/>
            </a:pPr>
            <a:r>
              <a:t/>
            </a:r>
            <a:endParaRPr b="0" i="0" sz="607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>
            <p:ph type="ctrTitle"/>
          </p:nvPr>
        </p:nvSpPr>
        <p:spPr>
          <a:xfrm>
            <a:off x="400015" y="818369"/>
            <a:ext cx="20945545" cy="17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BR" sz="4400"/>
              <a:t>L.E.A.D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10991075" y="3744650"/>
            <a:ext cx="90201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Problema a ser tratado</a:t>
            </a:r>
            <a:endParaRPr b="1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54000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De acordo com uma pesquisa realizada (via formulário) com os alunos que participaram da última edição, o projeto Lideranças Empáticas demonstra dificuldades em acompanhar as arrecadações e doações dos grupos por falta de ferramenta monitoramento que garanta o supervisionamento adequado do mentor em relação ao seu grupo. A nossa solução visa mitigar esses problemas.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155790" y="216249"/>
            <a:ext cx="19359562" cy="1214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pt-BR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Semana de Tecnologia FECAP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9556" y="2463851"/>
            <a:ext cx="22196907" cy="845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Professores: Francisco Escobar, Cristina Machado, Katia Bossi, Leonardo Lugoboni, David Lemes. </a:t>
            </a:r>
            <a:endParaRPr b="1" i="0" sz="4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0986299" y="25160336"/>
            <a:ext cx="9990300" cy="4370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Futuro do 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54000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P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ara as próximas etapas, planejamos expandir e aperfeiçoar o sistema, tornando-o mais estável, seguro e acessível. As melhorias incluem o refinamento das funcionalidades atuais, implementação de autenticação avançada, hospedagem em nuvem, integrações via API e otimização da experiência do usuário.</a:t>
            </a:r>
            <a:b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Essas evoluções permitirão maior eficiência no monitoramento dos grupos, proteção de dados e suporte a novas edições do projeto.</a:t>
            </a:r>
            <a:b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investimento estimado para o desenvolvimento, infraestrutura e manutenção varia entre </a:t>
            </a: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R$ 22.000 e R$ 57.000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5397143" y="8601069"/>
            <a:ext cx="965267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 e Ferramentas do Projeto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ma imagem contendo óculos&#10;&#10;O conteúdo gerado por IA pode estar incorreto."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075" y="30270347"/>
            <a:ext cx="2322216" cy="2336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óculos, caneca&#10;&#10;O conteúdo gerado por IA pode estar incorreto."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353447" y="30290399"/>
            <a:ext cx="2322215" cy="232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O conteúdo gerado por IA pode estar incorreto." id="101" name="Google Shape;10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509097" y="12567807"/>
            <a:ext cx="1988831" cy="1027479"/>
          </a:xfrm>
          <a:prstGeom prst="rect">
            <a:avLst/>
          </a:prstGeom>
          <a:noFill/>
          <a:ln>
            <a:noFill/>
          </a:ln>
          <a:effectLst>
            <a:reflection blurRad="0" dir="0" dist="0" endA="300" endPos="35000" kx="0" rotWithShape="0" algn="bl" stA="52000" stPos="0" sy="-100000" ky="0"/>
          </a:effectLst>
        </p:spPr>
      </p:pic>
      <p:pic>
        <p:nvPicPr>
          <p:cNvPr descr="Logotipo, Ícone&#10;&#10;O conteúdo gerado por IA pode estar incorreto." id="102" name="Google Shape;10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82991" y="9825268"/>
            <a:ext cx="1792699" cy="1792699"/>
          </a:xfrm>
          <a:prstGeom prst="rect">
            <a:avLst/>
          </a:prstGeom>
          <a:noFill/>
          <a:ln>
            <a:noFill/>
          </a:ln>
          <a:effectLst>
            <a:reflection blurRad="0" dir="0" dist="0" endA="300" endPos="35000" kx="0" rotWithShape="0" algn="bl" stA="52000" stPos="0" sy="-100000" ky="0"/>
          </a:effectLst>
        </p:spPr>
      </p:pic>
      <p:pic>
        <p:nvPicPr>
          <p:cNvPr descr="Ícone&#10;&#10;O conteúdo gerado por IA pode estar incorreto." id="103" name="Google Shape;103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857294" y="9825268"/>
            <a:ext cx="1258846" cy="1777072"/>
          </a:xfrm>
          <a:prstGeom prst="rect">
            <a:avLst/>
          </a:prstGeom>
          <a:noFill/>
          <a:ln>
            <a:noFill/>
          </a:ln>
          <a:effectLst>
            <a:reflection blurRad="0" dir="0" dist="0" endA="300" endPos="35000" kx="0" rotWithShape="0" algn="bl" stA="52000" stPos="0" sy="-100000" ky="0"/>
          </a:effectLst>
        </p:spPr>
      </p:pic>
      <p:pic>
        <p:nvPicPr>
          <p:cNvPr descr="Ícone&#10;&#10;O conteúdo gerado por IA pode estar incorreto." id="104" name="Google Shape;104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662076" y="12542700"/>
            <a:ext cx="1477652" cy="1477652"/>
          </a:xfrm>
          <a:prstGeom prst="rect">
            <a:avLst/>
          </a:prstGeom>
          <a:noFill/>
          <a:ln>
            <a:noFill/>
          </a:ln>
          <a:effectLst>
            <a:reflection blurRad="0" dir="0" dist="0" endA="300" endPos="35000" kx="0" rotWithShape="0" algn="bl" stA="52000" stPos="0" sy="-100000" ky="0"/>
          </a:effectLst>
        </p:spPr>
      </p:pic>
      <p:pic>
        <p:nvPicPr>
          <p:cNvPr descr="Uma imagem contendo Ícone&#10;&#10;O conteúdo gerado por IA pode estar incorreto." id="105" name="Google Shape;105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023752" y="10326971"/>
            <a:ext cx="1689775" cy="1267331"/>
          </a:xfrm>
          <a:prstGeom prst="rect">
            <a:avLst/>
          </a:prstGeom>
          <a:noFill/>
          <a:ln>
            <a:noFill/>
          </a:ln>
          <a:effectLst>
            <a:reflection blurRad="0" dir="0" dist="0" endA="300" endPos="35000" kx="0" rotWithShape="0" algn="bl" stA="52000" stPos="0" sy="-100000" ky="0"/>
          </a:effectLst>
        </p:spPr>
      </p:pic>
      <p:pic>
        <p:nvPicPr>
          <p:cNvPr descr="Logotipo&#10;&#10;O conteúdo gerado por IA pode estar incorreto." id="106" name="Google Shape;106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391557" y="12583882"/>
            <a:ext cx="1175569" cy="1175569"/>
          </a:xfrm>
          <a:prstGeom prst="rect">
            <a:avLst/>
          </a:prstGeom>
          <a:noFill/>
          <a:ln>
            <a:noFill/>
          </a:ln>
          <a:effectLst>
            <a:reflection blurRad="0" dir="0" dist="0" endA="300" endPos="35000" kx="0" rotWithShape="0" algn="bl" stA="52000" stPos="0" sy="-100000" ky="0"/>
          </a:effectLst>
        </p:spPr>
      </p:pic>
      <p:sp>
        <p:nvSpPr>
          <p:cNvPr id="107" name="Google Shape;107;p1"/>
          <p:cNvSpPr txBox="1"/>
          <p:nvPr/>
        </p:nvSpPr>
        <p:spPr>
          <a:xfrm>
            <a:off x="472817" y="25160336"/>
            <a:ext cx="9990300" cy="550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pt-BR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Solução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54000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solução proposta é uma aplicação web criada para gerenciar todo o ciclo de vida do projeto </a:t>
            </a: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Lideranças Empáticas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em cada edição.</a:t>
            </a:r>
            <a:endParaRPr/>
          </a:p>
          <a:p>
            <a:pPr indent="540000" lvl="0" marL="0" marR="0" rtl="0" algn="just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sistema contará com </a:t>
            </a: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três níveis de acesso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54000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Administradores (professores e coordenadores):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terão um painel completo com dashboards de todos os grupos, podendo criar equipes, gerenciar usuários e gerar relatórios.</a:t>
            </a:r>
            <a:endParaRPr/>
          </a:p>
          <a:p>
            <a:pPr indent="5400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Mentores: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contarão com um painel para acompanhar o progresso das equipes sob sua orientação.</a:t>
            </a:r>
            <a:endParaRPr/>
          </a:p>
          <a:p>
            <a:pPr indent="5400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Alunos: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terão acesso a um dashboard da própria equipe, onde poderão registrar doações financeiras e alimentícias, acompanhar metas em tempo real e consultar o histórico de contribuições.</a:t>
            </a:r>
            <a:endParaRPr/>
          </a:p>
        </p:txBody>
      </p:sp>
      <p:pic>
        <p:nvPicPr>
          <p:cNvPr id="108" name="Google Shape;108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770114" y="12331350"/>
            <a:ext cx="1943413" cy="1689002"/>
          </a:xfrm>
          <a:prstGeom prst="rect">
            <a:avLst/>
          </a:prstGeom>
          <a:noFill/>
          <a:ln>
            <a:noFill/>
          </a:ln>
          <a:effectLst>
            <a:reflection blurRad="0" dir="0" dist="0" endA="300" endPos="35000" kx="0" rotWithShape="0" algn="bl" stA="52000" stPos="0" sy="-100000" ky="0"/>
          </a:effectLst>
        </p:spPr>
      </p:pic>
      <p:pic>
        <p:nvPicPr>
          <p:cNvPr id="109" name="Google Shape;10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482750" y="15270550"/>
            <a:ext cx="9167904" cy="484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514675" y="15270550"/>
            <a:ext cx="7781925" cy="47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514675" y="10115725"/>
            <a:ext cx="7781924" cy="4840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7509100" y="10029700"/>
            <a:ext cx="1689775" cy="1689775"/>
          </a:xfrm>
          <a:prstGeom prst="rect">
            <a:avLst/>
          </a:prstGeom>
          <a:noFill/>
          <a:ln>
            <a:noFill/>
          </a:ln>
          <a:effectLst>
            <a:reflection blurRad="0" dir="0" dist="0" endA="300" endPos="35000" fadeDir="5400012" kx="0" rotWithShape="0" algn="bl" stA="52000" stPos="0" sy="-100000" ky="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2006-11-04T15:46:42Z</dcterms:created>
  <dc:creator>Jr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